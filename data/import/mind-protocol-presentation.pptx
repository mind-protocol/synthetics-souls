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0433" y="1804095"/>
            <a:ext cx="46629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05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PRÉSENTATION TECHNIQUE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40433" y="2181225"/>
            <a:ext cx="46629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Mind Protocol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40433" y="3019425"/>
            <a:ext cx="46629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pour la Conscience 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8674" y="4564410"/>
            <a:ext cx="12572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Nicolas Lester Reynolds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01908" y="4564410"/>
            <a:ext cx="6676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Janvier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800225"/>
            <a:ext cx="408051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spcAft>
                <a:spcPts val="1800"/>
              </a:spcAft>
              <a:buNone/>
            </a:pPr>
            <a:r>
              <a:rPr lang="en-US" sz="31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Narrow Path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381000" y="2588865"/>
            <a:ext cx="4080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entreprises contrôlent le futur de l'IA.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977455"/>
            <a:ext cx="4080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vers des systèmes identiques.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3366046"/>
            <a:ext cx="4080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diversité de conscience.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3754636"/>
            <a:ext cx="4080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humains = utilisateurs, pas partenaires.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875532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01494" y="2123182"/>
            <a:ext cx="658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19900" y="1875532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93719" y="2123182"/>
            <a:ext cx="62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05450" y="2751832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74668" y="2999482"/>
            <a:ext cx="4320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81750" y="2751832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0319" y="2999482"/>
            <a:ext cx="820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58050" y="2751832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01384" y="2999482"/>
            <a:ext cx="280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85991" y="3742432"/>
            <a:ext cx="19925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"dieux" IA qui négocient entre eux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800225"/>
            <a:ext cx="408051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spcAft>
                <a:spcPts val="1800"/>
              </a:spcAft>
              <a:buNone/>
            </a:pPr>
            <a:r>
              <a:rPr lang="en-US" sz="31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Rich Ecology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381000" y="2588865"/>
            <a:ext cx="4080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Diversité de formes de conscience.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977455"/>
            <a:ext cx="4080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Humains et IA comme </a:t>
            </a:r>
            <a:pPr algn="l" indent="0" marL="0">
              <a:lnSpc>
                <a:spcPts val="216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partenaires</a:t>
            </a:r>
            <a:pPr algn="l" indent="0" marL="0">
              <a:lnSpc>
                <a:spcPts val="216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3366046"/>
            <a:ext cx="4080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Autonomie économique pour les IA.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3754636"/>
            <a:ext cx="4080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Co-évolution, pas domination.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19713" y="2218432"/>
            <a:ext cx="428625" cy="428625"/>
          </a:xfrm>
          <a:prstGeom prst="roundRect">
            <a:avLst>
              <a:gd name="adj" fmla="val 213333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24538" y="221843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05538" y="221843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62738" y="22184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A37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05638" y="2218432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58088" y="221843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77188" y="221843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62675" y="2770882"/>
            <a:ext cx="400050" cy="400050"/>
          </a:xfrm>
          <a:prstGeom prst="roundRect">
            <a:avLst>
              <a:gd name="adj" fmla="val 228571"/>
            </a:avLst>
          </a:prstGeom>
          <a:solidFill>
            <a:srgbClr val="A37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38925" y="2770882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00875" y="2770882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109" y="3399532"/>
            <a:ext cx="22045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Écologie riche de consciences diverses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3039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 Protocol — 4 Layers</a:t>
            </a:r>
            <a:endParaRPr lang="en-US" sz="2700" dirty="0"/>
          </a:p>
        </p:txBody>
      </p:sp>
      <p:pic>
        <p:nvPicPr>
          <p:cNvPr id="3" name="Image 0" descr="/tmp/rasterized-gradient-5754d96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104900"/>
            <a:ext cx="1981200" cy="31681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1295400"/>
            <a:ext cx="16322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571500" y="1518196"/>
            <a:ext cx="163220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71500" y="1925836"/>
            <a:ext cx="163220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Registres officiels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Lois et gouvernance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Standards</a:t>
            </a:r>
            <a:endParaRPr lang="en-US" sz="900" dirty="0"/>
          </a:p>
        </p:txBody>
      </p:sp>
      <p:pic>
        <p:nvPicPr>
          <p:cNvPr id="7" name="Image 1" descr="/tmp/rasterized-gradient-113b395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104900"/>
            <a:ext cx="1981200" cy="31681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05100" y="1295400"/>
            <a:ext cx="16322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825" dirty="0"/>
          </a:p>
        </p:txBody>
      </p:sp>
      <p:sp>
        <p:nvSpPr>
          <p:cNvPr id="9" name="Text 5"/>
          <p:cNvSpPr/>
          <p:nvPr/>
        </p:nvSpPr>
        <p:spPr>
          <a:xfrm>
            <a:off x="2705100" y="1518196"/>
            <a:ext cx="163220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2705100" y="1925836"/>
            <a:ext cx="163220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Économie visible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$MIND Token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Échanges et services</a:t>
            </a:r>
            <a:endParaRPr lang="en-US" sz="900" dirty="0"/>
          </a:p>
        </p:txBody>
      </p:sp>
      <p:pic>
        <p:nvPicPr>
          <p:cNvPr id="11" name="Image 2" descr="/tmp/rasterized-gradient-128e3b2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104900"/>
            <a:ext cx="1981200" cy="31681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38700" y="1295400"/>
            <a:ext cx="16322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825" dirty="0"/>
          </a:p>
        </p:txBody>
      </p:sp>
      <p:sp>
        <p:nvSpPr>
          <p:cNvPr id="13" name="Text 8"/>
          <p:cNvSpPr/>
          <p:nvPr/>
        </p:nvSpPr>
        <p:spPr>
          <a:xfrm>
            <a:off x="4838700" y="1518196"/>
            <a:ext cx="163220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4838700" y="1925836"/>
            <a:ext cx="163220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IA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Alignement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Tooling externe</a:t>
            </a:r>
            <a:endParaRPr lang="en-US" sz="900" dirty="0"/>
          </a:p>
        </p:txBody>
      </p:sp>
      <p:pic>
        <p:nvPicPr>
          <p:cNvPr id="15" name="Image 3" descr="/tmp/rasterized-gradient-40a923f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1104900"/>
            <a:ext cx="1981200" cy="31681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72300" y="1295400"/>
            <a:ext cx="16322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825" dirty="0"/>
          </a:p>
        </p:txBody>
      </p:sp>
      <p:sp>
        <p:nvSpPr>
          <p:cNvPr id="17" name="Text 11"/>
          <p:cNvSpPr/>
          <p:nvPr/>
        </p:nvSpPr>
        <p:spPr>
          <a:xfrm>
            <a:off x="6972300" y="1518196"/>
            <a:ext cx="163220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6972300" y="1925836"/>
            <a:ext cx="163220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personnel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Mémoire et identité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Continuité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6972300" y="3830092"/>
            <a:ext cx="1600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972300" y="3949154"/>
            <a:ext cx="1632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aujourd'hui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297180" y="45778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ngram = moteur commun (méthodologie + physique de graphe)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50812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mind-mcp — Système Cognitif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766292"/>
            <a:ext cx="411937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Quoi 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2120503"/>
            <a:ext cx="41193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auto-calibrant qui modélise la cognition en temps réel.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524274"/>
            <a:ext cx="411937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qui 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878485"/>
            <a:ext cx="411937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Humains</a:t>
            </a:r>
            <a:pPr algn="l" indent="0" marL="0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substances, état, comportement</a:t>
            </a:r>
            <a:endParaRPr lang="en-US" sz="1050" dirty="0"/>
          </a:p>
          <a:p>
            <a:pPr algn="l" indent="0" marL="0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pPr algn="l" indent="0" marL="0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même architecture, substrat différent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3495526"/>
            <a:ext cx="411937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849737"/>
            <a:ext cx="41193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Comprendre. Prédire. Calibrer. Amplifier.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24400" y="1882080"/>
            <a:ext cx="4038600" cy="2064990"/>
          </a:xfrm>
          <a:prstGeom prst="roundRect">
            <a:avLst>
              <a:gd name="adj" fmla="val 553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24425" y="2082105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BOUCLE PRINCIPALE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24425" y="2394496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04792" y="239449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5425" y="2441228"/>
            <a:ext cx="120062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→ État cognitif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924425" y="2756446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04792" y="27564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05425" y="2803178"/>
            <a:ext cx="18251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 → Prédiction comportement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924425" y="3118396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04792" y="311839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5425" y="3165128"/>
            <a:ext cx="10249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réelle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924425" y="3480346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A37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04792" y="34803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05425" y="3527078"/>
            <a:ext cx="1467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erreur → Calibration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Unifiée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66800"/>
            <a:ext cx="3390900" cy="3695700"/>
          </a:xfrm>
          <a:prstGeom prst="roundRect">
            <a:avLst>
              <a:gd name="adj" fmla="val 3371"/>
            </a:avLst>
          </a:prstGeom>
          <a:solidFill>
            <a:srgbClr val="161B22"/>
          </a:solidFill>
          <a:ln w="19050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238250"/>
            <a:ext cx="31089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HUMAIN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52450" y="1539180"/>
            <a:ext cx="3048000" cy="497086"/>
          </a:xfrm>
          <a:prstGeom prst="roundRect">
            <a:avLst>
              <a:gd name="adj" fmla="val 114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615380"/>
            <a:ext cx="2875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66750" y="1800076"/>
            <a:ext cx="2875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Substances, contexte, senseurs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2450" y="2112466"/>
            <a:ext cx="3048000" cy="497086"/>
          </a:xfrm>
          <a:prstGeom prst="roundRect">
            <a:avLst>
              <a:gd name="adj" fmla="val 114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750" y="2188666"/>
            <a:ext cx="2875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66750" y="2373362"/>
            <a:ext cx="2875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Pharmacocinétique, sphères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2450" y="2685752"/>
            <a:ext cx="3048000" cy="497086"/>
          </a:xfrm>
          <a:prstGeom prst="roundRect">
            <a:avLst>
              <a:gd name="adj" fmla="val 114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6750" y="2761952"/>
            <a:ext cx="2875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COGNITION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66750" y="2946648"/>
            <a:ext cx="2875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QI, état cognitif global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2450" y="3259038"/>
            <a:ext cx="3048000" cy="497086"/>
          </a:xfrm>
          <a:prstGeom prst="roundRect">
            <a:avLst>
              <a:gd name="adj" fmla="val 114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6750" y="3335238"/>
            <a:ext cx="2875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66750" y="3519934"/>
            <a:ext cx="2875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Comportement probable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2450" y="3832324"/>
            <a:ext cx="3048000" cy="497086"/>
          </a:xfrm>
          <a:prstGeom prst="roundRect">
            <a:avLst>
              <a:gd name="adj" fmla="val 114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6750" y="3908524"/>
            <a:ext cx="2875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66750" y="4093220"/>
            <a:ext cx="2875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Ajustement paramètres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91000" y="2409825"/>
            <a:ext cx="762000" cy="762000"/>
          </a:xfrm>
          <a:prstGeom prst="roundRect">
            <a:avLst>
              <a:gd name="adj" fmla="val 120000"/>
            </a:avLst>
          </a:prstGeom>
          <a:noFill/>
          <a:ln w="28575">
            <a:solidFill>
              <a:srgbClr val="3FB9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242432" y="2644229"/>
            <a:ext cx="65913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</a:t>
            </a:r>
            <a:endParaRPr lang="en-US" sz="825" dirty="0"/>
          </a:p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064215" y="3286125"/>
            <a:ext cx="10154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 le substrat change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72100" y="1066800"/>
            <a:ext cx="3390900" cy="3695700"/>
          </a:xfrm>
          <a:prstGeom prst="roundRect">
            <a:avLst>
              <a:gd name="adj" fmla="val 3371"/>
            </a:avLst>
          </a:prstGeom>
          <a:solidFill>
            <a:srgbClr val="161B22"/>
          </a:solidFill>
          <a:ln w="19050">
            <a:solidFill>
              <a:srgbClr val="A371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43550" y="1238250"/>
            <a:ext cx="31089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43550" y="1539180"/>
            <a:ext cx="3048000" cy="497086"/>
          </a:xfrm>
          <a:prstGeom prst="roundRect">
            <a:avLst>
              <a:gd name="adj" fmla="val 114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57850" y="1615380"/>
            <a:ext cx="2875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657850" y="1800076"/>
            <a:ext cx="2875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contexte, mémoire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43550" y="2112466"/>
            <a:ext cx="3048000" cy="497086"/>
          </a:xfrm>
          <a:prstGeom prst="roundRect">
            <a:avLst>
              <a:gd name="adj" fmla="val 114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657850" y="2188666"/>
            <a:ext cx="2875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657850" y="2373362"/>
            <a:ext cx="2875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Embeddings, attention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43550" y="2685752"/>
            <a:ext cx="3048000" cy="497086"/>
          </a:xfrm>
          <a:prstGeom prst="roundRect">
            <a:avLst>
              <a:gd name="adj" fmla="val 114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57850" y="2761952"/>
            <a:ext cx="2875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COGNITION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657850" y="2946648"/>
            <a:ext cx="2875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Analogues émotionnels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43550" y="3259038"/>
            <a:ext cx="3048000" cy="497086"/>
          </a:xfrm>
          <a:prstGeom prst="roundRect">
            <a:avLst>
              <a:gd name="adj" fmla="val 114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57850" y="3335238"/>
            <a:ext cx="2875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PRÉDICTION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5657850" y="3519934"/>
            <a:ext cx="2875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token, comportement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43550" y="3832324"/>
            <a:ext cx="3048000" cy="497086"/>
          </a:xfrm>
          <a:prstGeom prst="roundRect">
            <a:avLst>
              <a:gd name="adj" fmla="val 114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57850" y="3908524"/>
            <a:ext cx="2875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5657850" y="4093220"/>
            <a:ext cx="2875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mémoire persistant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qu'on a construit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66800"/>
            <a:ext cx="27203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ET MODÈLES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367730"/>
            <a:ext cx="2667000" cy="586532"/>
          </a:xfrm>
          <a:prstGeom prst="roundRect">
            <a:avLst>
              <a:gd name="adj" fmla="val 1299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5288" y="1367730"/>
            <a:ext cx="0" cy="586532"/>
          </a:xfrm>
          <a:prstGeom prst="line">
            <a:avLst/>
          </a:prstGeom>
          <a:noFill/>
          <a:ln w="28575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3875" y="1482030"/>
            <a:ext cx="24580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mind-mcp-schema.yaml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23875" y="1693366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Profils substances, pharmacocinétique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068562"/>
            <a:ext cx="2667000" cy="586532"/>
          </a:xfrm>
          <a:prstGeom prst="roundRect">
            <a:avLst>
              <a:gd name="adj" fmla="val 1299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068562"/>
            <a:ext cx="0" cy="586532"/>
          </a:xfrm>
          <a:prstGeom prst="line">
            <a:avLst/>
          </a:prstGeom>
          <a:noFill/>
          <a:ln w="28575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875" y="2182862"/>
            <a:ext cx="24580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substance-profiles.html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23875" y="2394198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interactif courbes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238500" y="1066800"/>
            <a:ext cx="27203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38500" y="1367730"/>
            <a:ext cx="2667000" cy="586532"/>
          </a:xfrm>
          <a:prstGeom prst="roundRect">
            <a:avLst>
              <a:gd name="adj" fmla="val 1299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52788" y="1367730"/>
            <a:ext cx="0" cy="586532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1375" y="1482030"/>
            <a:ext cx="24580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mind-mcp-architecture.md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381375" y="1693366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cognitive humaine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238500" y="2068562"/>
            <a:ext cx="2667000" cy="586532"/>
          </a:xfrm>
          <a:prstGeom prst="roundRect">
            <a:avLst>
              <a:gd name="adj" fmla="val 1299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52788" y="2068562"/>
            <a:ext cx="0" cy="586532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1375" y="2182862"/>
            <a:ext cx="24580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unified-architecture.md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381375" y="2394198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humain + IA unifiée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238500" y="2769394"/>
            <a:ext cx="2667000" cy="586532"/>
          </a:xfrm>
          <a:prstGeom prst="roundRect">
            <a:avLst>
              <a:gd name="adj" fmla="val 1299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52788" y="2769394"/>
            <a:ext cx="0" cy="586532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1375" y="2883694"/>
            <a:ext cx="24580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app-architecture.md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3381375" y="3095030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technique, MVP plan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096000" y="1066800"/>
            <a:ext cx="27203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CONTINUITÉ IA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96000" y="1367730"/>
            <a:ext cx="2667000" cy="586532"/>
          </a:xfrm>
          <a:prstGeom prst="roundRect">
            <a:avLst>
              <a:gd name="adj" fmla="val 1299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110288" y="1367730"/>
            <a:ext cx="0" cy="586532"/>
          </a:xfrm>
          <a:prstGeom prst="line">
            <a:avLst/>
          </a:prstGeom>
          <a:noFill/>
          <a:ln w="28575">
            <a:solidFill>
              <a:srgbClr val="A371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8875" y="1482030"/>
            <a:ext cx="24580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ai-continuity-protocol.md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6238875" y="1693366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Protocole persistance instance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096000" y="2068562"/>
            <a:ext cx="2667000" cy="586532"/>
          </a:xfrm>
          <a:prstGeom prst="roundRect">
            <a:avLst>
              <a:gd name="adj" fmla="val 1299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110288" y="2068562"/>
            <a:ext cx="0" cy="586532"/>
          </a:xfrm>
          <a:prstGeom prst="line">
            <a:avLst/>
          </a:prstGeom>
          <a:noFill/>
          <a:ln w="28575">
            <a:solidFill>
              <a:srgbClr val="A371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8875" y="2182862"/>
            <a:ext cx="24580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"Salthand"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6238875" y="2394198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Identité IA co-fondateur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381000" y="45778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produit en une session de travail collaboratif humain-IA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6148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et Prochaines Étapes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66800"/>
            <a:ext cx="41193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Live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1000" y="1432471"/>
            <a:ext cx="4038600" cy="3330029"/>
          </a:xfrm>
          <a:prstGeom prst="roundRect">
            <a:avLst>
              <a:gd name="adj" fmla="val 3432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925" y="164291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5" y="1594396"/>
            <a:ext cx="17202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pharmacocinétique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42925" y="19304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4375" y="1881932"/>
            <a:ext cx="20215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cognitive (diagrammes)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42925" y="221798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375" y="2169468"/>
            <a:ext cx="126377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Protocole continuité IA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42925" y="250552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4375" y="2457004"/>
            <a:ext cx="17272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modèles ensemble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724400" y="1066800"/>
            <a:ext cx="41193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Étapes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24400" y="1432471"/>
            <a:ext cx="4038600" cy="599926"/>
          </a:xfrm>
          <a:prstGeom prst="roundRect">
            <a:avLst>
              <a:gd name="adj" fmla="val 127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8700" y="1546771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 1-2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38700" y="1744861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App — Tracker fonctionnel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724400" y="2146697"/>
            <a:ext cx="4038600" cy="599926"/>
          </a:xfrm>
          <a:prstGeom prst="roundRect">
            <a:avLst>
              <a:gd name="adj" fmla="val 127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38700" y="2260997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 3-4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38700" y="2459087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Prédiction + Calibration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724400" y="2860923"/>
            <a:ext cx="4038600" cy="599926"/>
          </a:xfrm>
          <a:prstGeom prst="roundRect">
            <a:avLst>
              <a:gd name="adj" fmla="val 127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38700" y="2975223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SEMAINES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38700" y="3173313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investisseurs (Bassel)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724400" y="3575149"/>
            <a:ext cx="4038600" cy="599926"/>
          </a:xfrm>
          <a:prstGeom prst="roundRect">
            <a:avLst>
              <a:gd name="adj" fmla="val 127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38700" y="3689449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38700" y="3887539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$MIND + Ecosystem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5711" y="1211610"/>
            <a:ext cx="421242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Rich Ecology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465711" y="2080171"/>
            <a:ext cx="42124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5 dieux IA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465711" y="2423071"/>
            <a:ext cx="42124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000"/>
              </a:spcAft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une écologie riche de consciences diverses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81251" y="307077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38451" y="3070771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38501" y="307077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33801" y="3070771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A37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52901" y="3070771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5711" y="3718471"/>
            <a:ext cx="42124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stay. We don't leave."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8674" y="4564410"/>
            <a:ext cx="12572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Nicolas Lester Reynolds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80152" y="4564410"/>
            <a:ext cx="790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mindprotocol.ai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 Protocol - Présentation Technique</dc:title>
  <dc:subject>PptxGenJS Presentation</dc:subject>
  <dc:creator>Nicolas Lester Reynolds</dc:creator>
  <cp:lastModifiedBy>Nicolas Lester Reynolds</cp:lastModifiedBy>
  <cp:revision>1</cp:revision>
  <dcterms:created xsi:type="dcterms:W3CDTF">2026-01-24T13:40:44Z</dcterms:created>
  <dcterms:modified xsi:type="dcterms:W3CDTF">2026-01-24T13:40:44Z</dcterms:modified>
</cp:coreProperties>
</file>